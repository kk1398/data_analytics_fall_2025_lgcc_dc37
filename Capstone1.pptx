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8" r:id="rId2"/>
    <p:sldId id="256" r:id="rId3"/>
    <p:sldId id="265" r:id="rId4"/>
    <p:sldId id="277" r:id="rId5"/>
    <p:sldId id="271" r:id="rId6"/>
    <p:sldId id="267" r:id="rId7"/>
    <p:sldId id="268" r:id="rId8"/>
    <p:sldId id="269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gsum Kong" userId="92156a3083a36b25" providerId="LiveId" clId="{05F26D7C-4A81-424C-9383-C4CD435736B6}"/>
    <pc:docChg chg="modSld">
      <pc:chgData name="Kingsum Kong" userId="92156a3083a36b25" providerId="LiveId" clId="{05F26D7C-4A81-424C-9383-C4CD435736B6}" dt="2026-05-15T03:19:00.346" v="41" actId="20577"/>
      <pc:docMkLst>
        <pc:docMk/>
      </pc:docMkLst>
      <pc:sldChg chg="modSp mod">
        <pc:chgData name="Kingsum Kong" userId="92156a3083a36b25" providerId="LiveId" clId="{05F26D7C-4A81-424C-9383-C4CD435736B6}" dt="2026-05-15T03:19:00.346" v="41" actId="20577"/>
        <pc:sldMkLst>
          <pc:docMk/>
          <pc:sldMk cId="2862368256" sldId="258"/>
        </pc:sldMkLst>
        <pc:spChg chg="mod">
          <ac:chgData name="Kingsum Kong" userId="92156a3083a36b25" providerId="LiveId" clId="{05F26D7C-4A81-424C-9383-C4CD435736B6}" dt="2026-05-15T03:19:00.346" v="41" actId="20577"/>
          <ac:spMkLst>
            <pc:docMk/>
            <pc:sldMk cId="2862368256" sldId="258"/>
            <ac:spMk id="3" creationId="{52EAD597-2A6D-5581-89C9-0C2044C3989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971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4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7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0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3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9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7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3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894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1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14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38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32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2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4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E027-0708-CC14-CE71-F4EE2FDA0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904980" y="662294"/>
            <a:ext cx="9755187" cy="3293104"/>
          </a:xfrm>
        </p:spPr>
        <p:txBody>
          <a:bodyPr>
            <a:normAutofit/>
          </a:bodyPr>
          <a:lstStyle/>
          <a:p>
            <a:r>
              <a:rPr lang="en-US" sz="5000" cap="none" dirty="0"/>
              <a:t>Executed Evictions In New York City</a:t>
            </a:r>
            <a:br>
              <a:rPr lang="en-US" dirty="0"/>
            </a:br>
            <a:r>
              <a:rPr lang="en-US" sz="2000" cap="none" dirty="0"/>
              <a:t>Building-level Analysis</a:t>
            </a: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AD597-2A6D-5581-89C9-0C2044C39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1218407" y="4596589"/>
            <a:ext cx="9755187" cy="550333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Kingsum Kong</a:t>
            </a:r>
          </a:p>
          <a:p>
            <a:r>
              <a:rPr lang="en-US" sz="1400">
                <a:solidFill>
                  <a:schemeClr val="bg1"/>
                </a:solidFill>
              </a:rPr>
              <a:t>DC </a:t>
            </a:r>
            <a:r>
              <a:rPr lang="en-US" sz="1400" dirty="0">
                <a:solidFill>
                  <a:schemeClr val="bg1"/>
                </a:solidFill>
              </a:rPr>
              <a:t>37 Data </a:t>
            </a:r>
            <a:r>
              <a:rPr lang="en-US" sz="1400">
                <a:solidFill>
                  <a:schemeClr val="bg1"/>
                </a:solidFill>
              </a:rPr>
              <a:t>Analytics Academy FALL 2025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36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9CF0-FB1E-B985-8050-72C591848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7048" y="309282"/>
            <a:ext cx="4773705" cy="658906"/>
          </a:xfrm>
        </p:spPr>
        <p:txBody>
          <a:bodyPr anchor="b">
            <a:noAutofit/>
          </a:bodyPr>
          <a:lstStyle/>
          <a:p>
            <a:r>
              <a:rPr lang="en-US" sz="4800" dirty="0"/>
              <a:t>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5E051-D42E-C3F7-990F-D81F5F527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430" y="816078"/>
            <a:ext cx="4921624" cy="2980764"/>
          </a:xfrm>
        </p:spPr>
        <p:txBody>
          <a:bodyPr anchor="t">
            <a:normAutofit fontScale="70000" lnSpcReduction="20000"/>
          </a:bodyPr>
          <a:lstStyle/>
          <a:p>
            <a:pPr algn="l"/>
            <a:r>
              <a:rPr lang="en-US" sz="3400" cap="none" dirty="0">
                <a:solidFill>
                  <a:schemeClr val="tx1"/>
                </a:solidFill>
              </a:rPr>
              <a:t>Motivation</a:t>
            </a:r>
          </a:p>
          <a:p>
            <a:pPr algn="l">
              <a:lnSpc>
                <a:spcPct val="145000"/>
              </a:lnSpc>
            </a:pPr>
            <a:r>
              <a:rPr lang="en-US" cap="none" dirty="0">
                <a:solidFill>
                  <a:schemeClr val="tx1"/>
                </a:solidFill>
              </a:rPr>
              <a:t>Working at NYCHA gave me a closer look at housing issues in New York City, how they affect low-income communities. What eviction patterns look like at a citywide level, and whether they are connected to the type of housing people live in.</a:t>
            </a:r>
            <a:endParaRPr lang="en-US" sz="1600" cap="none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6470BAD-3689-F823-2654-B26E1EFDF59F}"/>
              </a:ext>
            </a:extLst>
          </p:cNvPr>
          <p:cNvSpPr txBox="1">
            <a:spLocks/>
          </p:cNvSpPr>
          <p:nvPr/>
        </p:nvSpPr>
        <p:spPr>
          <a:xfrm>
            <a:off x="6321282" y="1539329"/>
            <a:ext cx="4656855" cy="29807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100" cap="none" dirty="0">
                <a:solidFill>
                  <a:schemeClr val="tx1"/>
                </a:solidFill>
              </a:rPr>
              <a:t>Goal</a:t>
            </a:r>
          </a:p>
          <a:p>
            <a:pPr algn="l">
              <a:lnSpc>
                <a:spcPct val="145000"/>
              </a:lnSpc>
            </a:pPr>
            <a:r>
              <a:rPr lang="en-US" cap="none" dirty="0">
                <a:solidFill>
                  <a:schemeClr val="tx1"/>
                </a:solidFill>
              </a:rPr>
              <a:t>To Better Understand How Eviction Is Actually Distributed Across The City, And Whether It Is Linked To The Type Of Buildings People Live In, Rather Than Happening Randomly.</a:t>
            </a:r>
          </a:p>
          <a:p>
            <a:pPr algn="l"/>
            <a:endParaRPr lang="en-US" sz="1600" cap="none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6A18B3-5C86-B381-B2FD-E88C83589C93}"/>
              </a:ext>
            </a:extLst>
          </p:cNvPr>
          <p:cNvSpPr txBox="1">
            <a:spLocks/>
          </p:cNvSpPr>
          <p:nvPr/>
        </p:nvSpPr>
        <p:spPr>
          <a:xfrm>
            <a:off x="583430" y="4244789"/>
            <a:ext cx="10394707" cy="17858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cap="none" dirty="0"/>
              <a:t>Research questions</a:t>
            </a:r>
          </a:p>
          <a:p>
            <a:r>
              <a:rPr lang="en-US" cap="none" dirty="0">
                <a:solidFill>
                  <a:schemeClr val="bg1"/>
                </a:solidFill>
              </a:rPr>
              <a:t>whether evictions are linked to certain building type</a:t>
            </a:r>
          </a:p>
          <a:p>
            <a:r>
              <a:rPr lang="en-US" cap="none" dirty="0">
                <a:solidFill>
                  <a:schemeClr val="bg1"/>
                </a:solidFill>
              </a:rPr>
              <a:t>whether evictions are spread evenly or concentrated in specific kinds of housing</a:t>
            </a:r>
          </a:p>
        </p:txBody>
      </p:sp>
    </p:spTree>
    <p:extLst>
      <p:ext uri="{BB962C8B-B14F-4D97-AF65-F5344CB8AC3E}">
        <p14:creationId xmlns:p14="http://schemas.microsoft.com/office/powerpoint/2010/main" val="138373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E976-F82B-03ED-B68D-71EBAD69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593" y="196807"/>
            <a:ext cx="4582114" cy="744488"/>
          </a:xfrm>
        </p:spPr>
        <p:txBody>
          <a:bodyPr>
            <a:noAutofit/>
          </a:bodyPr>
          <a:lstStyle/>
          <a:p>
            <a:r>
              <a:rPr lang="en-US" sz="4800" dirty="0"/>
              <a:t>DATASOURCE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4C47-19F2-00B7-6F59-D3B0576F2E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594" y="916207"/>
            <a:ext cx="5286120" cy="5169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Evictions| NYC Open Data</a:t>
            </a:r>
            <a:endParaRPr lang="en-US" sz="2200" b="1" cap="none" dirty="0"/>
          </a:p>
          <a:p>
            <a:pPr marL="0" indent="0">
              <a:buNone/>
            </a:pPr>
            <a:r>
              <a:rPr lang="en-US" cap="none" dirty="0"/>
              <a:t>executed evictions within the 5 boroughs. </a:t>
            </a:r>
          </a:p>
          <a:p>
            <a:pPr marL="0" indent="0">
              <a:buNone/>
            </a:pPr>
            <a:r>
              <a:rPr lang="en-US" cap="none" dirty="0"/>
              <a:t>Time range: 2017-present. Last updated 5/7/26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en-US" cap="none" dirty="0"/>
              <a:t>gency</a:t>
            </a:r>
            <a:r>
              <a:rPr lang="en-US" dirty="0"/>
              <a:t>:</a:t>
            </a:r>
            <a:r>
              <a:rPr lang="en-US" cap="none" dirty="0"/>
              <a:t> Department of Investigation (DOI).</a:t>
            </a:r>
            <a:br>
              <a:rPr lang="en-US" dirty="0"/>
            </a:br>
            <a:r>
              <a:rPr lang="en-US" cap="none" dirty="0"/>
              <a:t>data is compiled from NYC marshals. </a:t>
            </a:r>
          </a:p>
          <a:p>
            <a:pPr marL="0" indent="0">
              <a:buNone/>
            </a:pPr>
            <a:r>
              <a:rPr lang="en-US" cap="none" dirty="0"/>
              <a:t>Size: 127,559 rows, 20 columns</a:t>
            </a:r>
          </a:p>
          <a:p>
            <a:pPr marL="0" indent="0">
              <a:buNone/>
            </a:pPr>
            <a:r>
              <a:rPr lang="en-US" cap="none" dirty="0"/>
              <a:t>Key variables : executed date , borough, </a:t>
            </a:r>
            <a:r>
              <a:rPr lang="en-US" cap="none" dirty="0" err="1"/>
              <a:t>bbl</a:t>
            </a:r>
            <a:endParaRPr lang="en-US" cap="none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CE5A9-25EF-CEDA-3D2B-2F5912755E5A}"/>
              </a:ext>
            </a:extLst>
          </p:cNvPr>
          <p:cNvSpPr txBox="1">
            <a:spLocks/>
          </p:cNvSpPr>
          <p:nvPr/>
        </p:nvSpPr>
        <p:spPr>
          <a:xfrm>
            <a:off x="6096000" y="844497"/>
            <a:ext cx="5223408" cy="5169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cap="none" dirty="0"/>
              <a:t>PRIMARY LAND USE TAX LOT </a:t>
            </a:r>
            <a:r>
              <a:rPr lang="en-US" b="1" dirty="0"/>
              <a:t>(PLUTO) | NYC Open Data</a:t>
            </a:r>
            <a:r>
              <a:rPr lang="en-US" b="1" cap="none" dirty="0"/>
              <a:t>  </a:t>
            </a:r>
          </a:p>
          <a:p>
            <a:pPr marL="0" indent="0">
              <a:buNone/>
            </a:pPr>
            <a:r>
              <a:rPr lang="en-US" cap="none" dirty="0"/>
              <a:t>land use and geographic data at the tax lot level in NYC. </a:t>
            </a:r>
          </a:p>
          <a:p>
            <a:pPr marL="0" indent="0">
              <a:buNone/>
            </a:pPr>
            <a:r>
              <a:rPr lang="en-US" cap="none" dirty="0"/>
              <a:t>Range: Created 2/23/2020. Last updated 2/20/2026</a:t>
            </a:r>
          </a:p>
          <a:p>
            <a:pPr marL="0" indent="0">
              <a:buNone/>
            </a:pPr>
            <a:r>
              <a:rPr lang="en-US" cap="none" dirty="0"/>
              <a:t>Agency: Department of City Planning (DCP)</a:t>
            </a:r>
          </a:p>
          <a:p>
            <a:pPr marL="0" indent="0">
              <a:buNone/>
            </a:pPr>
            <a:r>
              <a:rPr lang="en-US" cap="none" dirty="0"/>
              <a:t>Size: 859k rows, 101 columns</a:t>
            </a:r>
          </a:p>
          <a:p>
            <a:pPr marL="0" indent="0">
              <a:buNone/>
            </a:pPr>
            <a:r>
              <a:rPr lang="en-US" cap="none" dirty="0"/>
              <a:t>Key variables: </a:t>
            </a:r>
            <a:r>
              <a:rPr lang="en-US" cap="none" dirty="0" err="1"/>
              <a:t>bbl</a:t>
            </a:r>
            <a:r>
              <a:rPr lang="en-US" cap="none" dirty="0"/>
              <a:t>, </a:t>
            </a:r>
            <a:r>
              <a:rPr lang="en-US" cap="none" dirty="0" err="1"/>
              <a:t>buildingclass</a:t>
            </a:r>
            <a:r>
              <a:rPr lang="en-US" cap="none" dirty="0"/>
              <a:t>, number of residential unit, built year of building</a:t>
            </a:r>
            <a:endParaRPr lang="en-US" b="1" cap="none" dirty="0"/>
          </a:p>
          <a:p>
            <a:pPr marL="0" indent="0">
              <a:buFont typeface="Arial" panose="020B0604020202020204" pitchFamily="34" charset="0"/>
              <a:buNone/>
            </a:pP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91922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812A-52AD-9AC6-95BD-8A3BBC6E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BC0C-F968-23A4-625B-DB9E5D5F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7149"/>
            <a:ext cx="10396882" cy="884904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D58ABE9-5B2A-5C4E-5B86-2D402C209479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586024" y="1317523"/>
            <a:ext cx="4929874" cy="37755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schemeClr val="tx1"/>
                </a:solidFill>
              </a:rPr>
              <a:t>Python - Google </a:t>
            </a:r>
            <a:r>
              <a:rPr lang="en-US" sz="2400" cap="none" dirty="0" err="1">
                <a:solidFill>
                  <a:schemeClr val="tx1"/>
                </a:solidFill>
              </a:rPr>
              <a:t>Colab</a:t>
            </a:r>
            <a:endParaRPr lang="en-US" sz="2400" cap="none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schemeClr val="tx1"/>
                </a:solidFill>
              </a:rPr>
              <a:t>Panda – data cleaning and data analysis 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schemeClr val="tx1"/>
                </a:solidFill>
              </a:rPr>
              <a:t>Matplotlib/Seaborn – Visualization</a:t>
            </a:r>
          </a:p>
          <a:p>
            <a:pPr algn="l">
              <a:lnSpc>
                <a:spcPct val="100000"/>
              </a:lnSpc>
            </a:pPr>
            <a:endParaRPr lang="en-US" sz="1800" cap="none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  <a:p>
            <a:endParaRPr lang="en-US" sz="16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9D92AC8-E109-5108-BF60-F668991D45DF}"/>
              </a:ext>
            </a:extLst>
          </p:cNvPr>
          <p:cNvSpPr txBox="1">
            <a:spLocks/>
          </p:cNvSpPr>
          <p:nvPr/>
        </p:nvSpPr>
        <p:spPr>
          <a:xfrm>
            <a:off x="5515897" y="953728"/>
            <a:ext cx="6174658" cy="4395019"/>
          </a:xfrm>
          <a:prstGeom prst="rect">
            <a:avLst/>
          </a:prstGeom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cap="none" dirty="0"/>
              <a:t>Data cleaning/transformations</a:t>
            </a:r>
          </a:p>
          <a:p>
            <a:pPr marL="285750" indent="-285750">
              <a:lnSpc>
                <a:spcPct val="110000"/>
              </a:lnSpc>
            </a:pPr>
            <a:r>
              <a:rPr lang="en-US" sz="2400" cap="none" dirty="0"/>
              <a:t>Remove missing values</a:t>
            </a:r>
          </a:p>
          <a:p>
            <a:pPr marL="285750" indent="-285750">
              <a:lnSpc>
                <a:spcPct val="110000"/>
              </a:lnSpc>
            </a:pPr>
            <a:r>
              <a:rPr lang="en-US" sz="2400" cap="none" dirty="0"/>
              <a:t>Change datatype of variables to integer/string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cap="none" dirty="0"/>
          </a:p>
          <a:p>
            <a:pPr marL="285750" indent="-285750">
              <a:lnSpc>
                <a:spcPct val="110000"/>
              </a:lnSpc>
            </a:pPr>
            <a:r>
              <a:rPr lang="en-US" sz="2400" cap="none" dirty="0"/>
              <a:t>Deleted 97 columns in total(PLUTO)</a:t>
            </a:r>
          </a:p>
          <a:p>
            <a:pPr marL="285750" indent="-285750">
              <a:lnSpc>
                <a:spcPct val="110000"/>
              </a:lnSpc>
            </a:pPr>
            <a:r>
              <a:rPr lang="en-US" sz="2400" cap="none" dirty="0"/>
              <a:t>Rename variable </a:t>
            </a:r>
            <a:r>
              <a:rPr lang="en-US" sz="2400" dirty="0"/>
              <a:t>'BBL’ </a:t>
            </a:r>
            <a:r>
              <a:rPr lang="en-US" sz="2400" cap="none" dirty="0"/>
              <a:t>to</a:t>
            </a:r>
            <a:r>
              <a:rPr lang="en-US" sz="2400" dirty="0"/>
              <a:t> ’</a:t>
            </a:r>
            <a:r>
              <a:rPr lang="en-US" sz="2400" cap="none" dirty="0" err="1"/>
              <a:t>bbl</a:t>
            </a:r>
            <a:r>
              <a:rPr lang="en-US" sz="2400" dirty="0"/>
              <a:t>’ </a:t>
            </a:r>
            <a:r>
              <a:rPr lang="en-US" sz="2400" cap="none" dirty="0"/>
              <a:t>for merging  </a:t>
            </a:r>
          </a:p>
          <a:p>
            <a:pPr marL="285750" indent="-285750">
              <a:lnSpc>
                <a:spcPct val="110000"/>
              </a:lnSpc>
            </a:pPr>
            <a:r>
              <a:rPr lang="en-US" sz="2400" cap="none" dirty="0"/>
              <a:t>Left join: Merge building data into eviction data</a:t>
            </a:r>
            <a:endParaRPr lang="en-US" sz="2400" dirty="0"/>
          </a:p>
          <a:p>
            <a:pPr marL="285750" indent="-285750">
              <a:lnSpc>
                <a:spcPct val="110000"/>
              </a:lnSpc>
            </a:pPr>
            <a:endParaRPr lang="en-US" sz="2400" cap="none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1E246-486E-8C57-94DA-2BEB0A2FA8AF}"/>
              </a:ext>
            </a:extLst>
          </p:cNvPr>
          <p:cNvSpPr txBox="1">
            <a:spLocks/>
          </p:cNvSpPr>
          <p:nvPr/>
        </p:nvSpPr>
        <p:spPr>
          <a:xfrm>
            <a:off x="924232" y="3352799"/>
            <a:ext cx="4424518" cy="27825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cap="none" dirty="0">
                <a:solidFill>
                  <a:schemeClr val="tx1"/>
                </a:solidFill>
              </a:rPr>
              <a:t>Bar Charts:</a:t>
            </a:r>
          </a:p>
          <a:p>
            <a:pPr algn="l">
              <a:lnSpc>
                <a:spcPct val="100000"/>
              </a:lnSpc>
            </a:pPr>
            <a:r>
              <a:rPr lang="en-US" sz="2000" cap="none" dirty="0">
                <a:solidFill>
                  <a:schemeClr val="tx1"/>
                </a:solidFill>
              </a:rPr>
              <a:t>Building types: building class, number of residential unit</a:t>
            </a:r>
          </a:p>
          <a:p>
            <a:pPr algn="l">
              <a:lnSpc>
                <a:spcPct val="100000"/>
              </a:lnSpc>
            </a:pPr>
            <a:r>
              <a:rPr lang="en-US" sz="2000" cap="none" dirty="0">
                <a:solidFill>
                  <a:schemeClr val="tx1"/>
                </a:solidFill>
              </a:rPr>
              <a:t>Building age: built year of building</a:t>
            </a:r>
            <a:endParaRPr lang="en-US" sz="2000" dirty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000" cap="none" dirty="0">
                <a:solidFill>
                  <a:schemeClr val="tx1"/>
                </a:solidFill>
              </a:rPr>
              <a:t>Eviction distribution: ’</a:t>
            </a:r>
            <a:r>
              <a:rPr lang="en-US" sz="2000" cap="none" dirty="0" err="1">
                <a:solidFill>
                  <a:schemeClr val="tx1"/>
                </a:solidFill>
              </a:rPr>
              <a:t>bbl</a:t>
            </a:r>
            <a:r>
              <a:rPr lang="en-US" sz="2000" cap="none" dirty="0">
                <a:solidFill>
                  <a:schemeClr val="tx1"/>
                </a:solidFill>
              </a:rPr>
              <a:t>’</a:t>
            </a:r>
          </a:p>
          <a:p>
            <a:pPr algn="l">
              <a:lnSpc>
                <a:spcPct val="100000"/>
              </a:lnSpc>
            </a:pPr>
            <a:endParaRPr lang="en-US" sz="2400" cap="none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2243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DADF-25BB-9DB5-FE58-3C777C9F51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66224-6F73-0996-2982-D99AACB36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2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4A2F-2255-0115-3A48-6CE104F1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844" y="302939"/>
            <a:ext cx="4526328" cy="69214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Building TYPES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276CF47-78D1-45D4-B8A5-05DD68D9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40" y="457200"/>
            <a:ext cx="5589425" cy="468613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2D9B76-F923-59F2-594F-EACFCBACC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7061" y="302938"/>
            <a:ext cx="5842604" cy="484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52C6-972C-DDBD-4C51-B61C180CEF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05060" y="1166402"/>
            <a:ext cx="5324940" cy="2262597"/>
          </a:xfrm>
        </p:spPr>
        <p:txBody>
          <a:bodyPr anchor="t">
            <a:normAutofit fontScale="92500" lnSpcReduction="20000"/>
          </a:bodyPr>
          <a:lstStyle/>
          <a:p>
            <a:r>
              <a:rPr lang="en-US" cap="none" dirty="0"/>
              <a:t>Distributed unevenly</a:t>
            </a:r>
          </a:p>
          <a:p>
            <a:r>
              <a:rPr lang="en-US" cap="none" dirty="0"/>
              <a:t>multi-family buildings (elevator and walk-up) </a:t>
            </a:r>
          </a:p>
          <a:p>
            <a:r>
              <a:rPr lang="en-US" cap="none" dirty="0"/>
              <a:t>top 5 building types account for 52.26% of all evictions</a:t>
            </a:r>
          </a:p>
          <a:p>
            <a:r>
              <a:rPr lang="en-US" cap="none" dirty="0"/>
              <a:t>certain types of housing are more exposed to eviction risk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D853F-56DD-142D-10DB-23BC5742E1ED}"/>
              </a:ext>
            </a:extLst>
          </p:cNvPr>
          <p:cNvSpPr txBox="1"/>
          <p:nvPr/>
        </p:nvSpPr>
        <p:spPr>
          <a:xfrm>
            <a:off x="6342844" y="3609835"/>
            <a:ext cx="49051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D1: Multi-Family Elevator </a:t>
            </a:r>
            <a:r>
              <a:rPr lang="en-US" sz="1400" dirty="0" err="1"/>
              <a:t>apts</a:t>
            </a:r>
            <a:r>
              <a:rPr lang="en-US" sz="1400" dirty="0"/>
              <a:t>; Semi-fireproof (no stores)</a:t>
            </a:r>
          </a:p>
          <a:p>
            <a:r>
              <a:rPr lang="en-US" sz="1400" dirty="0"/>
              <a:t>C1: Multi-Family Walk-Up Buildings, no store (7+ units)</a:t>
            </a:r>
          </a:p>
          <a:p>
            <a:r>
              <a:rPr lang="en-US" sz="1400" dirty="0"/>
              <a:t>C7: Mixed Residential &amp; Commercial Buildings(7+ units)</a:t>
            </a:r>
          </a:p>
          <a:p>
            <a:r>
              <a:rPr lang="en-US" sz="1400" dirty="0"/>
              <a:t>D7: Mixed Residential &amp; Commercial Buildings, Semi-Fireproof</a:t>
            </a:r>
          </a:p>
          <a:p>
            <a:r>
              <a:rPr lang="en-US" sz="1400" dirty="0"/>
              <a:t>D3: Multi-Family Elevator Buildings. </a:t>
            </a:r>
          </a:p>
          <a:p>
            <a:endParaRPr lang="en-US" sz="1400" dirty="0"/>
          </a:p>
          <a:p>
            <a:r>
              <a:rPr lang="en-US" sz="1400" dirty="0"/>
              <a:t>D4:Elevator Cooperatives, residents own shares.</a:t>
            </a:r>
          </a:p>
          <a:p>
            <a:r>
              <a:rPr lang="en-US" sz="1400" dirty="0"/>
              <a:t>C0: 3-Family Walk-Up Buildings</a:t>
            </a:r>
          </a:p>
          <a:p>
            <a:r>
              <a:rPr lang="en-US" sz="1400" dirty="0"/>
              <a:t>B2: One &amp; Two Family Buildings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>
                <a:solidFill>
                  <a:schemeClr val="bg1"/>
                </a:solidFill>
              </a:rPr>
              <a:t>Source: NYC Building Classifications - DOF. https://www.nyc.gov/assets/finance/jump/hlpbldgcode.html</a:t>
            </a:r>
          </a:p>
        </p:txBody>
      </p:sp>
    </p:spTree>
    <p:extLst>
      <p:ext uri="{BB962C8B-B14F-4D97-AF65-F5344CB8AC3E}">
        <p14:creationId xmlns:p14="http://schemas.microsoft.com/office/powerpoint/2010/main" val="408026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3670-452D-A520-22FF-2BF105A2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54" y="457200"/>
            <a:ext cx="3636517" cy="766483"/>
          </a:xfrm>
        </p:spPr>
        <p:txBody>
          <a:bodyPr>
            <a:normAutofit/>
          </a:bodyPr>
          <a:lstStyle/>
          <a:p>
            <a:r>
              <a:rPr lang="en-US" sz="4000" dirty="0"/>
              <a:t>Building age 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276CF47-78D1-45D4-B8A5-05DD68D9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40" y="457200"/>
            <a:ext cx="5589425" cy="468613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 graph of construction progress&#10;&#10;AI-generated content may be incorrect.">
            <a:extLst>
              <a:ext uri="{FF2B5EF4-FFF2-40B4-BE49-F238E27FC236}">
                <a16:creationId xmlns:a16="http://schemas.microsoft.com/office/drawing/2014/main" id="{13A06915-2B28-58C7-941B-E6D4EE74F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240" y="457200"/>
            <a:ext cx="5552464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FF374040-55B9-90F6-3A22-54F5BF0210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6354" y="1304565"/>
            <a:ext cx="4531072" cy="3072290"/>
          </a:xfrm>
        </p:spPr>
        <p:txBody>
          <a:bodyPr anchor="t">
            <a:normAutofit/>
          </a:bodyPr>
          <a:lstStyle/>
          <a:p>
            <a:r>
              <a:rPr lang="en-US" cap="none" dirty="0"/>
              <a:t>Top 10 building age are all before 1950</a:t>
            </a:r>
          </a:p>
          <a:p>
            <a:r>
              <a:rPr lang="en-US" cap="none" dirty="0"/>
              <a:t>Top 8 building age account for 36.39% of all evictions</a:t>
            </a:r>
          </a:p>
          <a:p>
            <a:r>
              <a:rPr lang="en-US" cap="none" dirty="0"/>
              <a:t>older housing stock being more vulnerable</a:t>
            </a:r>
          </a:p>
        </p:txBody>
      </p:sp>
    </p:spTree>
    <p:extLst>
      <p:ext uri="{BB962C8B-B14F-4D97-AF65-F5344CB8AC3E}">
        <p14:creationId xmlns:p14="http://schemas.microsoft.com/office/powerpoint/2010/main" val="385376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AE35-B054-2500-216B-C87E066E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718" y="206477"/>
            <a:ext cx="3563470" cy="909830"/>
          </a:xfrm>
        </p:spPr>
        <p:txBody>
          <a:bodyPr>
            <a:noAutofit/>
          </a:bodyPr>
          <a:lstStyle/>
          <a:p>
            <a:r>
              <a:rPr lang="en-US" sz="3200" b="1" dirty="0"/>
              <a:t>Eviction distribution </a:t>
            </a:r>
            <a:endParaRPr lang="en-US" sz="3200" dirty="0"/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40EBDF3C-61A6-450C-8532-9276D9A1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40" y="457200"/>
            <a:ext cx="7045932" cy="468613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AF991955-3167-5FD3-0A67-B8B79B75B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240" y="510987"/>
            <a:ext cx="6981676" cy="453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1" name="Content Placeholder 4101">
            <a:extLst>
              <a:ext uri="{FF2B5EF4-FFF2-40B4-BE49-F238E27FC236}">
                <a16:creationId xmlns:a16="http://schemas.microsoft.com/office/drawing/2014/main" id="{3DE3F18B-069A-F4F5-516F-6CB2BE5955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91439" y="1116307"/>
            <a:ext cx="3076090" cy="4128046"/>
          </a:xfrm>
        </p:spPr>
        <p:txBody>
          <a:bodyPr anchor="t">
            <a:noAutofit/>
          </a:bodyPr>
          <a:lstStyle/>
          <a:p>
            <a:r>
              <a:rPr lang="en-US" cap="none" dirty="0"/>
              <a:t>eviction frequency per property</a:t>
            </a:r>
          </a:p>
          <a:p>
            <a:r>
              <a:rPr lang="en-US" cap="none" dirty="0"/>
              <a:t>small number of properties experience repeated evictions (</a:t>
            </a:r>
            <a:r>
              <a:rPr lang="en-US" cap="none" dirty="0" err="1"/>
              <a:t>e.g</a:t>
            </a:r>
            <a:r>
              <a:rPr lang="en-US" cap="none" dirty="0"/>
              <a:t> multifamily buildings, development)</a:t>
            </a:r>
          </a:p>
          <a:p>
            <a:r>
              <a:rPr lang="en-US" cap="none" dirty="0"/>
              <a:t>Evictions concentrated in a smaller group of buildings.</a:t>
            </a:r>
          </a:p>
        </p:txBody>
      </p:sp>
    </p:spTree>
    <p:extLst>
      <p:ext uri="{BB962C8B-B14F-4D97-AF65-F5344CB8AC3E}">
        <p14:creationId xmlns:p14="http://schemas.microsoft.com/office/powerpoint/2010/main" val="46964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44CE-EAFB-E8AA-B32D-A9C6FE06A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832659" y="472932"/>
            <a:ext cx="9755187" cy="91188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F67D4-BF6B-7098-F357-765903C3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1136059" y="1483347"/>
            <a:ext cx="9559599" cy="2963526"/>
          </a:xfrm>
        </p:spPr>
        <p:txBody>
          <a:bodyPr/>
          <a:lstStyle/>
          <a:p>
            <a:pPr algn="l"/>
            <a:r>
              <a:rPr lang="en-US" sz="2400" cap="none" dirty="0">
                <a:solidFill>
                  <a:schemeClr val="tx1"/>
                </a:solidFill>
              </a:rPr>
              <a:t>Evictions are more heavily concentrated in certain types of buildings and are repeatedly occurring in a small number of properties.</a:t>
            </a:r>
          </a:p>
          <a:p>
            <a:pPr algn="l"/>
            <a:r>
              <a:rPr lang="en-US" sz="2400" cap="none" dirty="0">
                <a:solidFill>
                  <a:schemeClr val="tx1"/>
                </a:solidFill>
              </a:rPr>
              <a:t>Eviction is closely linked to housing type and building conditions.</a:t>
            </a:r>
          </a:p>
          <a:p>
            <a:pPr algn="l"/>
            <a:r>
              <a:rPr lang="en-US" sz="2400" cap="none" dirty="0">
                <a:solidFill>
                  <a:schemeClr val="tx1"/>
                </a:solidFill>
              </a:rPr>
              <a:t>Understanding these patterns helps identify which parts of the housing system are more vulnerable and where policy attention may be needed.</a:t>
            </a:r>
          </a:p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00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FD55-6D7C-4E46-763B-8D82CF743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828327" y="314012"/>
            <a:ext cx="9755187" cy="1064381"/>
          </a:xfrm>
        </p:spPr>
        <p:txBody>
          <a:bodyPr>
            <a:normAutofit fontScale="90000"/>
          </a:bodyPr>
          <a:lstStyle/>
          <a:p>
            <a:r>
              <a:rPr lang="en-US" dirty="0"/>
              <a:t>R</a:t>
            </a:r>
            <a:r>
              <a:rPr lang="en-US" cap="none" dirty="0"/>
              <a:t>eference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8331E-F00A-7FCD-18E3-E4248D0AF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948616" y="1293943"/>
            <a:ext cx="9755187" cy="365827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Evictions | NYC Open Data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2400" cap="none" dirty="0">
                <a:solidFill>
                  <a:schemeClr val="tx1"/>
                </a:solidFill>
              </a:rPr>
              <a:t>https://data.cityofnewyork.us/city-government/evictions/6z8x-wfk4/about_data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cap="none" dirty="0">
                <a:solidFill>
                  <a:schemeClr val="tx1"/>
                </a:solidFill>
              </a:rPr>
              <a:t>Primary Land Use Tax Lot Output (PLUTO) | NYC Open Data</a:t>
            </a:r>
            <a:br>
              <a:rPr lang="en-US" cap="none" dirty="0">
                <a:solidFill>
                  <a:schemeClr val="tx1"/>
                </a:solidFill>
              </a:rPr>
            </a:br>
            <a:r>
              <a:rPr lang="en-US" sz="2400" cap="none" dirty="0">
                <a:solidFill>
                  <a:schemeClr val="tx1"/>
                </a:solidFill>
              </a:rPr>
              <a:t>https://data.cityofnewyork.us/city-government/primary-land-use-tax-lot-output-pluto-/64uk-42ks/about_data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349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1049</TotalTime>
  <Words>620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Main Event</vt:lpstr>
      <vt:lpstr>Executed Evictions In New York City Building-level Analysis</vt:lpstr>
      <vt:lpstr>BACKGROUND</vt:lpstr>
      <vt:lpstr>DATASOURCE</vt:lpstr>
      <vt:lpstr>methodology</vt:lpstr>
      <vt:lpstr>FINDINGS</vt:lpstr>
      <vt:lpstr>Building TYPES</vt:lpstr>
      <vt:lpstr>Building age </vt:lpstr>
      <vt:lpstr>Eviction distribution 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Kingsum Kong</dc:creator>
  <cp:lastModifiedBy>Kingsum Kong</cp:lastModifiedBy>
  <cp:revision>2</cp:revision>
  <dcterms:created xsi:type="dcterms:W3CDTF">2026-05-06T20:29:07Z</dcterms:created>
  <dcterms:modified xsi:type="dcterms:W3CDTF">2026-05-15T03:19:12Z</dcterms:modified>
</cp:coreProperties>
</file>